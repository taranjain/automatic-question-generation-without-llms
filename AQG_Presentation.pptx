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Difficulty</c:v>
                </c:pt>
              </c:strCache>
            </c:strRef>
          </c:tx>
          <c:dPt>
            <c:idx val="0"/>
            <c:spPr>
              <a:solidFill>
                <a:srgbClr val="34D399"/>
              </a:solidFill>
            </c:spPr>
          </c:dPt>
          <c:dPt>
            <c:idx val="1"/>
            <c:spPr>
              <a:solidFill>
                <a:srgbClr val="FB923C"/>
              </a:solidFill>
            </c:spPr>
          </c:dPt>
          <c:dPt>
            <c:idx val="2"/>
            <c:spPr>
              <a:solidFill>
                <a:srgbClr val="F87171"/>
              </a:solidFill>
            </c:spPr>
          </c:dPt>
          <c:cat>
            <c:strRef>
              <c:f>Sheet1!$A$2:$A$4</c:f>
              <c:strCache>
                <c:ptCount val="3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7.6</c:v>
                </c:pt>
                <c:pt idx="1">
                  <c:v>66.8</c:v>
                </c:pt>
                <c:pt idx="2">
                  <c:v>25.6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1200">
              <a:solidFill>
                <a:srgbClr val="FFFF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8B5CF6"/>
            </a:solidFill>
          </c:spPr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Apply</c:v>
                </c:pt>
                <c:pt idx="2">
                  <c:v>Create</c:v>
                </c:pt>
                <c:pt idx="3">
                  <c:v>Evaluate</c:v>
                </c:pt>
                <c:pt idx="4">
                  <c:v>Analyze</c:v>
                </c:pt>
                <c:pt idx="5">
                  <c:v>Understand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211</c:v>
                </c:pt>
                <c:pt idx="1">
                  <c:v>15</c:v>
                </c:pt>
                <c:pt idx="2">
                  <c:v>11</c:v>
                </c:pt>
                <c:pt idx="3">
                  <c:v>7</c:v>
                </c:pt>
                <c:pt idx="4">
                  <c:v>6</c:v>
                </c:pt>
                <c:pt idx="5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A0A0B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A0A0B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4F8EFF"/>
            </a:solidFill>
          </c:spPr>
          <c:cat>
            <c:strRef>
              <c:f>Sheet1!$A$2:$A$7</c:f>
              <c:strCache>
                <c:ptCount val="6"/>
                <c:pt idx="0">
                  <c:v>What</c:v>
                </c:pt>
                <c:pt idx="1">
                  <c:v>Who</c:v>
                </c:pt>
                <c:pt idx="2">
                  <c:v>Where</c:v>
                </c:pt>
                <c:pt idx="3">
                  <c:v>When</c:v>
                </c:pt>
                <c:pt idx="4">
                  <c:v>How many</c:v>
                </c:pt>
                <c:pt idx="5">
                  <c:v>Which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288</c:v>
                </c:pt>
                <c:pt idx="1">
                  <c:v>82</c:v>
                </c:pt>
                <c:pt idx="2">
                  <c:v>75</c:v>
                </c:pt>
                <c:pt idx="3">
                  <c:v>38</c:v>
                </c:pt>
                <c:pt idx="4">
                  <c:v>12</c:v>
                </c:pt>
                <c:pt idx="5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A0A0B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A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Automatic Question Generation</a:t>
            </a:r>
            <a:br/>
            <a:r>
              <a:t>from Textbooks — Without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F8EFF"/>
                </a:solidFill>
                <a:latin typeface="Calibri"/>
              </a:defRPr>
            </a:pPr>
            <a:r>
              <a:t>NLP Course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Calibri"/>
              </a:defRPr>
            </a:pPr>
            <a:r>
              <a:t>Taran Jain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206240"/>
            <a:ext cx="2560320" cy="10972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SQuAD 2.0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4206240"/>
            <a:ext cx="2560320" cy="10972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Rule-Based + Templates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206240"/>
            <a:ext cx="2560320" cy="10972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Innovations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Difficulty · Bloom's · Quiz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1. Problem Statement &amp; Motivation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2. Literature Survey (15 Research Papers)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3. Dataset — SQuAD 2.0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4. Our Approach — Pipeline Overview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5. NLP Techniques Used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6. System Architecture &amp; Web Interface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7. Innovation #1 — Difficulty Classification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8. Innovation #2 — Bloom's Taxonomy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9. Innovation #3 — Interactive Quiz Mode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10. Evaluation Results &amp; Analysis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11. Comparison with Published Systems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12.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What are we solving and why?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1005840"/>
          </a:xfrm>
          <a:prstGeom prst="roundRect">
            <a:avLst/>
          </a:prstGeom>
          <a:solidFill>
            <a:srgbClr val="15162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Given a textbook paragraph, automatically generate educational</a:t>
            </a:r>
            <a:br/>
            <a:r>
              <a:t>questions and answers — without using LLMs (no GPT, BERT, T5).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8EFF"/>
                </a:solidFill>
                <a:latin typeface="Calibri"/>
              </a:defRPr>
            </a:pPr>
            <a:r>
              <a:t>Why It Matters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Teachers spend hours manually creating assessments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Textbooks contain more information than questions written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COVID-19 increased demand for online assessment tools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Neural approaches require expensive GPUs — we need lightweight alternatives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Our Goal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✅ Generate factual questions from any text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✅ Classify difficulty (Easy/Medium/Hard)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✅ Map to Bloom's Taxonomy cognitive levels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✅ Provide an interactive quiz interface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✅ Run on any laptop — no GPU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Applications of Automatic Question Generation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74720" cy="18288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🎓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Automated quiz &amp; exam generation from textbook chapters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74720" cy="18288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📚 Adaptive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Generate difficulty-appropriate Qs per student 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474720" cy="18288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🤖 Conversational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Train chatbots with auto-generated QA pairs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3474720" cy="18288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📝 Content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FAQ generation from documentation &amp; manuals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657600"/>
            <a:ext cx="3474720" cy="18288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🔍 Information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Enhance search with question-form queries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657600"/>
            <a:ext cx="3474720" cy="18288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🏥 Healthcare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389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Generate clinical case questions from medical texts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Literature Survey — Rule-Based &amp; Template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Key research papers that shaped our system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38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Contribution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We Use It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Heilman &amp; Smith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'Good Question! Statistical Ranking'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2010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Overgenerate-and-rank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paradigm for QG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pipeline design: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generate many → rank top-K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Heilman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'Auto Factual QG' (PhD Thesis)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2011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Sentence simplification +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 type analysis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 type distribution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and answer extraction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Lindberg et al.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'Generating NL Questions'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2013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Template-based QG with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slot filling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template module: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definition, temporal, action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Mazidi &amp; Nielsen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'Linguistic Considerations in QG'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2014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Subject-aux inversion +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do-support rules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 transformation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rules in generator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Ali et al.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'Automatic Question Generation'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2010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NER → question type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mapping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ENTITY_QUESTION_MAP: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PERSON→Who, GPE→Where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Literature Survey — Neural, Evaluation &amp;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Comparison systems and evaluation methodology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5764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Contribution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Relevance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 et al.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'Learning to Ask: Neural QG'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2017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First Seq2Seq attention QG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 SQuAD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Comparison baseline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(neural approach)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Zhao et al.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'Paragraph-Level Neural QG'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Paragraph-level context +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gated attention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Upper-bound neural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Papineni et al.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'BLEU'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2002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N-gram precision metric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 text generation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primary evaluation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 (BLEU-2)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'ROUGE'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2004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Recall-oriented metric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 summaries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ROUGE-1/2/L for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 measurement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Bloom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'Taxonomy of Edu. Objectives'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1956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6-level cognitive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classification framework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Innovation #2: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Bloom's classifier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Rajpurkar et al.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'SQuAD 2.0'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150K+ QA pairs with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unanswerable questions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dataset for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pattern learning &amp; eval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Research Gap &amp; Our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What's missing in existing literature?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10972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8EFF"/>
                </a:solidFill>
                <a:latin typeface="Calibri"/>
              </a:defRPr>
            </a:pPr>
            <a:r>
              <a:t>Gap 1: Modern rule-based systems are rare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Most recent AQG papers use neural models (Seq2Seq, Transformers). There is a lack of well-engineered classical NLP systems using modern tools like spaCy.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10972800" cy="10972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Gap 2: No difficulty estimation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Most AQG systems generate questions but don't classify them by difficulty level. Educators need questions at multiple difficulty levels for balanced assessments.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10972800" cy="10972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23359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Calibri"/>
              </a:defRPr>
            </a:pPr>
            <a:r>
              <a:t>Gap 3: No Bloom's Taxonomy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Very few systems categorize questions by cognitive level (Remember → Create). This is essential for educational technology and balanced curriculum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12079"/>
            <a:ext cx="10972800" cy="10972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19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Calibri"/>
              </a:defRPr>
            </a:pPr>
            <a:r>
              <a:t>Gap 4: No interactive web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7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Most AQG systems are command-line tools or APIs. They lack user-friendly interfaces with quiz features for real-world classroom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Dataset — SQuAD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Stanford Question Answering Dataset (Rajpurkar et al., 2018)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5029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52251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 Set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 Set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Articles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442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Paragraphs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18,891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1,204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Questions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130,319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11,873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Answerable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86,821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5,928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Unanswerable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43,498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5,945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 Size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42.1 MB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4.4 MB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8EFF"/>
                </a:solidFill>
                <a:latin typeface="Calibri"/>
              </a:defRPr>
            </a:pPr>
            <a:r>
              <a:t>How We Use SQuAD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303520" cy="9144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🔍 Pattern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Study entity type → question word mappings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303520" cy="9144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063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📐 Template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Analyze common sentence structures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303520" cy="9144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📊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34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Compare generated vs. human questions (BLEU/ROUGE)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074920"/>
            <a:ext cx="5303520" cy="9144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166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📝 Sample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486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Web app's 'Load Sample' feature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03520"/>
            <a:ext cx="10972800" cy="914400"/>
          </a:xfrm>
          <a:prstGeom prst="roundRect">
            <a:avLst/>
          </a:prstGeom>
          <a:solidFill>
            <a:srgbClr val="151628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  <a:latin typeface="Calibri"/>
              </a:defRPr>
            </a:pPr>
            <a:r>
              <a:t>⚠️ Important: We do NOT train a neural network on SQuAD.</a:t>
            </a:r>
            <a:br/>
            <a:r>
              <a:t>We use it only for rule pattern extraction and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Pipeline —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How a question is generated from raw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737360" cy="2560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8E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Input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Raw paragraph from</a:t>
            </a:r>
            <a:br/>
            <a:r>
              <a:t>textbook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8E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463040"/>
            <a:ext cx="1737360" cy="2560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NLP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46888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spaCy: POS, NER,</a:t>
            </a:r>
            <a:br/>
            <a:r>
              <a:t>Dependency 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63040"/>
            <a:ext cx="1737360" cy="2560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Answer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6888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Find entities, nouns,</a:t>
            </a:r>
            <a:br/>
            <a:r>
              <a:t>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D3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1737360" cy="2560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B923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6888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Rules + Templates</a:t>
            </a:r>
            <a:br/>
            <a:r>
              <a:t>+ Dep Parse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92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463040"/>
            <a:ext cx="1737360" cy="2560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717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Rank &amp; 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46888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7-feature scoring</a:t>
            </a:r>
            <a:br/>
            <a:r>
              <a:t>+ dedup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717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1463040"/>
            <a:ext cx="1737360" cy="2560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C489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Enrich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46888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Difficulty +</a:t>
            </a:r>
            <a:br/>
            <a:r>
              <a:t>Bloom's level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297680"/>
            <a:ext cx="11247120" cy="2194560"/>
          </a:xfrm>
          <a:prstGeom prst="roundRect">
            <a:avLst/>
          </a:prstGeom>
          <a:solidFill>
            <a:srgbClr val="121322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389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EFF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7548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Input: "Albert Einstein was born in Ulm, Germany in 1879."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31520" y="5120640"/>
          <a:ext cx="10515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Answer Candidate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Entity Type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 Word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Generated Question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Albert Einstein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PERSON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Who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Who was born in Ulm, Germany in 1879?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Ulm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GPE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 was Albert Einstein born?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1879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When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When was Albert Einstein born?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NLP Techniques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All classical — No LLMs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Tokenization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Split text into words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spaCy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 Tagging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Label grammar roles (NOUN, VERB, ADJ...)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spaCy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Named Entity Recognition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Find PERSON, GPE, DATE, ORG entities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spaCy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Dependency Parsing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Subject-Verb-Object structure tree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spaCy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Subject-Aux Inversion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"X was born" → "Was X born?"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 rules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Do-Support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"X developed Y" → "What did X develop?"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 rules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Template Matching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"X is a Y" → "What is X?"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Regex patterns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Readability Scoring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Flesch Reading Ease formula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textstat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760720"/>
            <a:ext cx="5486400" cy="8229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spaCy en_core_web_sm (12 MB)</a:t>
            </a:r>
            <a:br/>
            <a:r>
              <a:t>→ Analysis only, NOT text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5760720"/>
            <a:ext cx="5303520" cy="8229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58521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7171"/>
                </a:solidFill>
                <a:latin typeface="Calibri"/>
              </a:defRPr>
            </a:pPr>
            <a:r>
              <a:t>❌ No GPT, BERT, T5, or any</a:t>
            </a:r>
            <a:br/>
            <a:r>
              <a:t>Transformer / LLM used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Full-stack: Next.js → Flask → spaCy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914400"/>
            <a:ext cx="9144000" cy="13716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8EFF"/>
                </a:solidFill>
                <a:latin typeface="Calibri"/>
              </a:defRPr>
            </a:pPr>
            <a:r>
              <a:t>🌐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51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Next.js 14 + Tailwind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087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3 Pages: Generate | Quiz |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743200"/>
            <a:ext cx="9144000" cy="13716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⚙️ Backend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880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Flask (Python) on :5001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3375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6 REST endpoints (JSON)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572000"/>
            <a:ext cx="9144000" cy="13716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🧠 NLP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709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spaCy + NLTK + textstat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1663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7 Modules: Preprocess → Generate → Rank → Enrich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▼  HTTP / JSON  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▼  HTTP / JSON  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Innovation #1 — Difficulty Classification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Classifies each question as Easy / Medium / Hard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6400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5143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Easy (Low)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 (High)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Flesch Readability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 &gt; 80 (simple)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 &lt; 20 (complex)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Sentence Length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≤ 10 words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&gt; 30 words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Subordinate Clauses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 clauses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3+ clauses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 Word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Who, When (factual)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Why, How (analytical)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Answer Word Count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 word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4+ words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Prepositional Phrases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0-1 phrases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3+ phrases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 Noun Density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 (specific)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 (abstract)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0" y="1280160"/>
          <a:ext cx="43891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0A0B0"/>
                </a:solidFill>
                <a:latin typeface="Calibri"/>
              </a:defRPr>
            </a:pPr>
            <a:r>
              <a:t>Score ≤ 0.33 → Easy  |  0.34 – 0.66 → Medium  |  &gt; 0.66 → Hard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Innovation #2 — Bloom's Taxonomy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Maps each question to a cognitive level (Bloom, 1956)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1828800" cy="6400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66360" y="1463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C4899"/>
                </a:solidFill>
                <a:latin typeface="Calibri"/>
              </a:defRPr>
            </a:pPr>
            <a:r>
              <a:t>CREATE  (4.4%)  —  Produce new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48840"/>
            <a:ext cx="3200400" cy="6400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7171"/>
                </a:solidFill>
                <a:latin typeface="Calibri"/>
              </a:defRPr>
            </a:pPr>
            <a:r>
              <a:t>EVALUATE  (2.8%)  —  Judge &amp; justify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926080"/>
            <a:ext cx="4572000" cy="6400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30175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ANALYZE  (2.4%)  —  Compare &amp; examine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3703320"/>
            <a:ext cx="5943600" cy="6400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3794759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923C"/>
                </a:solidFill>
                <a:latin typeface="Calibri"/>
              </a:defRPr>
            </a:pPr>
            <a:r>
              <a:t>APPLY  (6.0%)  —  Use in new situations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480560"/>
            <a:ext cx="7315200" cy="6400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457200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96F3"/>
                </a:solidFill>
                <a:latin typeface="Calibri"/>
              </a:defRPr>
            </a:pPr>
            <a:r>
              <a:t>UNDERSTAND  (0.0%)  —  Explain &amp; summarize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0200" y="5257800"/>
            <a:ext cx="8686800" cy="6400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53492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REMEMBER  (84.4%)  —  Recall facts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498079" y="1371600"/>
          <a:ext cx="4206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84% Remember is expected — rule-based systems excel at factual questions (foundation of Bloom's pyramid)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Innovation #3 — Interactive Quiz Mode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Web-based quiz system for active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20116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🎯 Configurable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Choose 3, 5, 7, or 10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74720" cy="20116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🎚️ Difficulty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Easy / Medium / Hard / All Levels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474720" cy="20116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⏱️ Live Timer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488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Tracks quiz duration in real-time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3474720" cy="20116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💡 Hint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Shows the source sentence on demand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840480"/>
            <a:ext cx="3474720" cy="20116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⏭️ Skip 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177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Skip and return to unknown questions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80"/>
            <a:ext cx="3474720" cy="20116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📊 Results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6177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Score, %, time, per-question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Evaluated on 50 SQuAD 2.0 dev contexts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16459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F8EFF"/>
                </a:solidFill>
                <a:latin typeface="Calibri"/>
              </a:defRPr>
            </a:pPr>
            <a:r>
              <a:t>BLEU-2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0.0861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N-gram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651760" cy="16459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  <a:latin typeface="Calibri"/>
              </a:defRPr>
            </a:pPr>
            <a:r>
              <a:t>ROUGE-1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0.2837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Unigram 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651760" cy="16459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4D399"/>
                </a:solidFill>
                <a:latin typeface="Calibri"/>
              </a:defRPr>
            </a:pPr>
            <a:r>
              <a:t>ROUGE-2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0.0857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Bigram 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371600"/>
            <a:ext cx="2651760" cy="16459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923C"/>
                </a:solidFill>
                <a:latin typeface="Calibri"/>
              </a:defRPr>
            </a:pPr>
            <a:r>
              <a:t>ROUGE-L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0.2389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Longest common subseq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91840"/>
            <a:ext cx="2651760" cy="1188720"/>
          </a:xfrm>
          <a:prstGeom prst="roundRect">
            <a:avLst/>
          </a:prstGeom>
          <a:solidFill>
            <a:srgbClr val="1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499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Questions</a:t>
            </a:r>
            <a:br/>
            <a:r>
              <a:t>Generated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3291840"/>
            <a:ext cx="2651760" cy="1188720"/>
          </a:xfrm>
          <a:prstGeom prst="roundRect">
            <a:avLst/>
          </a:prstGeom>
          <a:solidFill>
            <a:srgbClr val="1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9.98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Avg per</a:t>
            </a:r>
            <a:br/>
            <a:r>
              <a:t>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291840"/>
            <a:ext cx="2651760" cy="1188720"/>
          </a:xfrm>
          <a:prstGeom prst="roundRect">
            <a:avLst/>
          </a:prstGeom>
          <a:solidFill>
            <a:srgbClr val="1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Question</a:t>
            </a:r>
            <a:br/>
            <a:r>
              <a:t>Types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3291840"/>
            <a:ext cx="2651760" cy="1188720"/>
          </a:xfrm>
          <a:prstGeom prst="roundRect">
            <a:avLst/>
          </a:prstGeom>
          <a:solidFill>
            <a:srgbClr val="1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0.5317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Max</a:t>
            </a:r>
            <a:br/>
            <a:r>
              <a:t>BLEU-2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48640" y="4754880"/>
          <a:ext cx="1097280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Comparison with Published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How our rule-based system compares to neural approaches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BLEU-2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ROUGE-L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GPU?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Innovations?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Heilman &amp; Smith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(2010)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Rule-based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~0.08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~0.20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System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Rule + Template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Innovations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0.0861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0.2389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(3)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 et al.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(2017)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Seq2Seq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Neural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~0.15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~0.30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NQG++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(2018)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Neural +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~0.17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~0.32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T5-base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(2020)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Pre-trained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Transformer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~0.22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~0.40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12142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  <a:latin typeface="Calibri"/>
              </a:defRPr>
            </a:pPr>
            <a:r>
              <a:t>Key Takeaway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Our system matches the Heilman &amp; Smith baseline while adding 3 innovations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(Difficulty + Bloom's + Quiz) that are absent in ALL published systems above.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System Strengths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697480" cy="21945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4D39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 GPU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688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Runs on any laptop CPU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188720"/>
            <a:ext cx="2697480" cy="21945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3716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F8E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11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Zero Hallucination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100% extractive answers from source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697480" cy="21945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5CF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Fully Explainable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688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Every question traceable to source sentence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188720"/>
            <a:ext cx="2697480" cy="21945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3716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B923C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011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High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4688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10 Qs/passage  (3.5× human average)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2697480" cy="21945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31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C489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 Question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292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What, Who, Where, When, How many, Which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3749039"/>
            <a:ext cx="2697480" cy="21945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931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8717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 Innovations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0292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Difficulty + Bloom's + Quiz (unique combination)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49039"/>
            <a:ext cx="2697480" cy="21945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931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196F3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Fast Processing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0292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Questions generated in milliseconds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3749039"/>
            <a:ext cx="2697480" cy="21945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3931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4D39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Full-Stack Web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50292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Production-ready interface for educators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Cause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Future Solution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'Why' questions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Rules can't extract causality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Discourse parsing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Grammar imperfections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Complex sentence transformation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Grammar checker post-processing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84% Remember level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Factual focus of rule-based QG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ML classifier for causal sentences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BLEU &lt; neural systems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Different phrasing ≠ lower quality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Semantic similarity (BERTScore)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8EFF"/>
                </a:solidFill>
                <a:latin typeface="Calibri"/>
              </a:defRPr>
            </a:pPr>
            <a:r>
              <a:t>Future Enhancements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→  PDF/DOCX file upload for direct textbook processing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→  Multi-language support (Hindi, French, Spanish)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→  User history and adaptive learning paths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→  Question paraphrasing for more natural phrasing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→  Train a Random Forest ranker on human quality judgments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References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0796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4F8E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Rajpurkar et al. — 'SQuAD: 100K+ Questions for Machine Comprehension'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Rajpurkar et al. — 'Know What You Don't Know: SQuAD 2.0'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Heilman &amp; Smith — 'Good Question! Statistical Ranking for QG'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2010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Heilman — 'Automatic Factual QG from Text' (PhD Thesis)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2011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Lindberg et al. — 'Generating NL Questions to Support Learning'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2013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Mazidi &amp; Nielsen — 'Linguistic Considerations in Auto QG'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2014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Ali et al. — 'Automatic Question Generation from Sentences'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2010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 et al. — 'Learning to Ask: Neural QG for Reading Comprehension'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2017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Zhao et al. — 'Paragraph-Level Neural QG with Maxout Pointer'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Papineni et al. — 'BLEU: Automatic Evaluation of MT'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2002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 — 'ROUGE: Automatic Evaluation of Summaries'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2004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Bloom — 'Taxonomy of Educational Objectives'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1956</a:t>
                      </a:r>
                    </a:p>
                  </a:txBody>
                  <a:tcPr>
                    <a:solidFill>
                      <a:srgbClr val="1A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E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0972800" cy="8686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Calibri"/>
              </a:defRPr>
            </a:pPr>
            <a:r>
              <a:t>✅ Built complete AQG system without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Demonstrates mastery of classical NLP (POS, NER, Dep. Parse)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0972800" cy="8686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8EFF"/>
                </a:solidFill>
                <a:latin typeface="Calibri"/>
              </a:defRPr>
            </a:pPr>
            <a:r>
              <a:t>✅ 15 research papers surveyed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Connecting our work to established QG literature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10972800" cy="8686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✅ 3 innovations 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Difficulty Detection, Bloom's Taxonomy, Interactive Quiz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0972800" cy="8686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3891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Calibri"/>
              </a:defRPr>
            </a:pPr>
            <a:r>
              <a:t>✅ Full-stack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Next.js → Flask → spaCy pipeline with web interface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03520"/>
            <a:ext cx="10972800" cy="8686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/>
              </a:defRPr>
            </a:pPr>
            <a:r>
              <a:t>✅ Competitive evaluation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BLEU-2 = 0.0861, ROUGE-L = 0.2389 (on par with published baselines)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669280"/>
            <a:ext cx="9144000" cy="822960"/>
          </a:xfrm>
          <a:prstGeom prst="roundRect">
            <a:avLst/>
          </a:prstGeom>
          <a:solidFill>
            <a:srgbClr val="151628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576072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Contribution: Classical NLP can produce a practical, deployable educational</a:t>
            </a:r>
            <a:br/>
            <a:r>
              <a:t>tool without expensive GPUs — with pedagogical innovations absent from existing systems.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F8E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4114800"/>
            <a:ext cx="6400800" cy="16459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0" y="429768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F8EFF"/>
                </a:solidFill>
                <a:latin typeface="Calibri"/>
              </a:defRPr>
            </a:pPr>
            <a:r>
              <a:t>Try the System</a:t>
            </a:r>
          </a:p>
          <a:p>
            <a:pPr>
              <a:spcBef>
                <a:spcPts val="1000"/>
              </a:spcBef>
              <a:defRPr sz="1200" b="0">
                <a:solidFill>
                  <a:srgbClr val="A0A0B0"/>
                </a:solidFill>
                <a:latin typeface="Calibri"/>
              </a:defRPr>
            </a:pPr>
            <a:r>
              <a:t>Backend:  source venv/bin/activate &amp;&amp; python app.py</a:t>
            </a:r>
          </a:p>
          <a:p>
            <a:pPr>
              <a:spcBef>
                <a:spcPts val="500"/>
              </a:spcBef>
              <a:defRPr sz="1200" b="0">
                <a:solidFill>
                  <a:srgbClr val="A0A0B0"/>
                </a:solidFill>
                <a:latin typeface="Calibri"/>
              </a:defRPr>
            </a:pPr>
            <a:r>
              <a:t>Frontend:  cd web &amp;&amp; npm run dev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Open:  http://localhost:3000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